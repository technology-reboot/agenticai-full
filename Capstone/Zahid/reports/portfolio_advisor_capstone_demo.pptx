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82B"/>
          </a:solidFill>
          <a:ln>
            <a:solidFill>
              <a:srgbClr val="0C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79D97"/>
          </a:solidFill>
          <a:ln>
            <a:solidFill>
              <a:srgbClr val="179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63840" y="0"/>
            <a:ext cx="4327855" cy="6858000"/>
          </a:xfrm>
          <a:prstGeom prst="rect">
            <a:avLst/>
          </a:prstGeom>
          <a:solidFill>
            <a:srgbClr val="179D97"/>
          </a:solidFill>
          <a:ln>
            <a:solidFill>
              <a:srgbClr val="179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58200" y="685800"/>
            <a:ext cx="2697480" cy="2697480"/>
          </a:xfrm>
          <a:prstGeom prst="roundRect">
            <a:avLst>
              <a:gd name="adj" fmla="val 8000"/>
            </a:avLst>
          </a:prstGeom>
          <a:solidFill>
            <a:srgbClr val="0C182B"/>
          </a:solidFill>
          <a:ln>
            <a:solidFill>
              <a:srgbClr val="0C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96528" y="1115568"/>
            <a:ext cx="2011680" cy="10058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5000" b="1">
                <a:solidFill>
                  <a:srgbClr val="FFFFFF"/>
                </a:solidFill>
                <a:latin typeface="Aptos"/>
              </a:rPr>
              <a:t>PA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97280"/>
            <a:ext cx="6583680" cy="1234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PORTFOLIO
ADVISOR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62179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100" b="0">
                <a:solidFill>
                  <a:srgbClr val="F1BE4D"/>
                </a:solidFill>
                <a:latin typeface="Aptos"/>
              </a:rPr>
              <a:t>Personalized, scenario-tested investment guidance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86200"/>
            <a:ext cx="38404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Capstone Project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370832"/>
            <a:ext cx="38404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CADAE2"/>
                </a:solidFill>
                <a:latin typeface="Aptos"/>
              </a:rPr>
              <a:t>Presented by Syed Hussein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080760"/>
            <a:ext cx="66751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CADAE2"/>
                </a:solidFill>
                <a:latin typeface="Aptos"/>
              </a:rPr>
              <a:t>Explainable calculations  |  grounded narrative  |  QA guardrails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9D97"/>
          </a:solidFill>
          <a:ln>
            <a:solidFill>
              <a:srgbClr val="179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53035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79D97"/>
                </a:solidFill>
                <a:latin typeface="Aptos"/>
              </a:rPr>
              <a:t>WHY THIS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94944"/>
            <a:ext cx="1051560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182B"/>
                </a:solidFill>
                <a:latin typeface="Aptos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384048"/>
            <a:ext cx="15544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>
                <a:solidFill>
                  <a:srgbClr val="4A5B6D"/>
                </a:solidFill>
                <a:latin typeface="Aptos"/>
              </a:rPr>
              <a:t>CAPSTONE PROJECT 1  /  02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89888"/>
            <a:ext cx="11018520" cy="13716"/>
          </a:xfrm>
          <a:prstGeom prst="rect">
            <a:avLst/>
          </a:prstGeom>
          <a:solidFill>
            <a:srgbClr val="EFF4F7"/>
          </a:solidFill>
          <a:ln>
            <a:solidFill>
              <a:srgbClr val="EF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94944" y="1856231"/>
            <a:ext cx="109728" cy="109728"/>
          </a:xfrm>
          <a:prstGeom prst="roundRect">
            <a:avLst>
              <a:gd name="adj" fmla="val 8000"/>
            </a:avLst>
          </a:prstGeom>
          <a:solidFill>
            <a:srgbClr val="EB8441"/>
          </a:solidFill>
          <a:ln>
            <a:solidFill>
              <a:srgbClr val="EB8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83080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0">
                <a:solidFill>
                  <a:srgbClr val="182434"/>
                </a:solidFill>
                <a:latin typeface="Aptos"/>
              </a:rPr>
              <a:t>Investors need guidance that connects goals, risk tolerance, and current holdings.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2514600"/>
            <a:ext cx="109728" cy="109728"/>
          </a:xfrm>
          <a:prstGeom prst="roundRect">
            <a:avLst>
              <a:gd name="adj" fmla="val 8000"/>
            </a:avLst>
          </a:prstGeom>
          <a:solidFill>
            <a:srgbClr val="EB8441"/>
          </a:solidFill>
          <a:ln>
            <a:solidFill>
              <a:srgbClr val="EB8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441448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0">
                <a:solidFill>
                  <a:srgbClr val="182434"/>
                </a:solidFill>
                <a:latin typeface="Aptos"/>
              </a:rPr>
              <a:t>A portfolio can be concentrated even when its total value looks healthy.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" y="3172968"/>
            <a:ext cx="109728" cy="109728"/>
          </a:xfrm>
          <a:prstGeom prst="roundRect">
            <a:avLst>
              <a:gd name="adj" fmla="val 8000"/>
            </a:avLst>
          </a:prstGeom>
          <a:solidFill>
            <a:srgbClr val="EB8441"/>
          </a:solidFill>
          <a:ln>
            <a:solidFill>
              <a:srgbClr val="EB8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099815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0">
                <a:solidFill>
                  <a:srgbClr val="182434"/>
                </a:solidFill>
                <a:latin typeface="Aptos"/>
              </a:rPr>
              <a:t>Recommendations should be explainable, scenario-tested, and clearly caveated.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" y="3831335"/>
            <a:ext cx="109728" cy="109728"/>
          </a:xfrm>
          <a:prstGeom prst="roundRect">
            <a:avLst>
              <a:gd name="adj" fmla="val 8000"/>
            </a:avLst>
          </a:prstGeom>
          <a:solidFill>
            <a:srgbClr val="EB8441"/>
          </a:solidFill>
          <a:ln>
            <a:solidFill>
              <a:srgbClr val="EB8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758183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0">
                <a:solidFill>
                  <a:srgbClr val="182434"/>
                </a:solidFill>
                <a:latin typeface="Aptos"/>
              </a:rPr>
              <a:t>The system must separate reliable calculations from flexible language generation.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6446520"/>
            <a:ext cx="11018520" cy="13716"/>
          </a:xfrm>
          <a:prstGeom prst="rect">
            <a:avLst/>
          </a:prstGeom>
          <a:solidFill>
            <a:srgbClr val="EFF4F7"/>
          </a:solidFill>
          <a:ln>
            <a:solidFill>
              <a:srgbClr val="EF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" y="6510528"/>
            <a:ext cx="107899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>
                <a:solidFill>
                  <a:srgbClr val="4A5B6D"/>
                </a:solidFill>
                <a:latin typeface="Aptos"/>
              </a:rPr>
              <a:t>Talk track: This is decision support, not automatic trading or a promise of future performance.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9D97"/>
          </a:solidFill>
          <a:ln>
            <a:solidFill>
              <a:srgbClr val="179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53035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79D97"/>
                </a:solidFill>
                <a:latin typeface="Aptos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94944"/>
            <a:ext cx="1051560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182B"/>
                </a:solidFill>
                <a:latin typeface="Aptos"/>
              </a:rPr>
              <a:t>What the system delivers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384048"/>
            <a:ext cx="15544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>
                <a:solidFill>
                  <a:srgbClr val="4A5B6D"/>
                </a:solidFill>
                <a:latin typeface="Aptos"/>
              </a:rPr>
              <a:t>CAPSTONE PROJECT 1  /  03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89888"/>
            <a:ext cx="11018520" cy="13716"/>
          </a:xfrm>
          <a:prstGeom prst="rect">
            <a:avLst/>
          </a:prstGeom>
          <a:solidFill>
            <a:srgbClr val="EFF4F7"/>
          </a:solidFill>
          <a:ln>
            <a:solidFill>
              <a:srgbClr val="EF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828800"/>
            <a:ext cx="2240280" cy="2240280"/>
          </a:xfrm>
          <a:prstGeom prst="roundRect">
            <a:avLst>
              <a:gd name="adj" fmla="val 8000"/>
            </a:avLst>
          </a:prstGeom>
          <a:solidFill>
            <a:srgbClr val="EFF4F7"/>
          </a:solidFill>
          <a:ln>
            <a:solidFill>
              <a:srgbClr val="3D7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828800"/>
            <a:ext cx="2240280" cy="393192"/>
          </a:xfrm>
          <a:prstGeom prst="roundRect">
            <a:avLst>
              <a:gd name="adj" fmla="val 8000"/>
            </a:avLst>
          </a:prstGeom>
          <a:solidFill>
            <a:srgbClr val="3D7EB6"/>
          </a:solidFill>
          <a:ln>
            <a:solidFill>
              <a:srgbClr val="3D7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911095"/>
            <a:ext cx="1874519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542032"/>
            <a:ext cx="1874519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900" b="1">
                <a:solidFill>
                  <a:srgbClr val="0C182B"/>
                </a:solidFill>
                <a:latin typeface="Aptos"/>
              </a:rPr>
              <a:t>Holdings
Risk profile
Contributions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08376" y="2697480"/>
            <a:ext cx="3657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4A5B6D"/>
                </a:solidFill>
                <a:latin typeface="Aptos"/>
              </a:rP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1828800"/>
            <a:ext cx="2240280" cy="2240280"/>
          </a:xfrm>
          <a:prstGeom prst="roundRect">
            <a:avLst>
              <a:gd name="adj" fmla="val 8000"/>
            </a:avLst>
          </a:prstGeom>
          <a:solidFill>
            <a:srgbClr val="EFF4F7"/>
          </a:solidFill>
          <a:ln>
            <a:solidFill>
              <a:srgbClr val="179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74720" y="1828800"/>
            <a:ext cx="2240280" cy="393192"/>
          </a:xfrm>
          <a:prstGeom prst="roundRect">
            <a:avLst>
              <a:gd name="adj" fmla="val 8000"/>
            </a:avLst>
          </a:prstGeom>
          <a:solidFill>
            <a:srgbClr val="179D97"/>
          </a:solidFill>
          <a:ln>
            <a:solidFill>
              <a:srgbClr val="179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9312" y="1911095"/>
            <a:ext cx="1874519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ANALYZE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542032"/>
            <a:ext cx="1874519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900" b="1">
                <a:solidFill>
                  <a:srgbClr val="0C182B"/>
                </a:solidFill>
                <a:latin typeface="Aptos"/>
              </a:rPr>
              <a:t>Allocation
Concentration
Risk gap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24727" y="2697480"/>
            <a:ext cx="3657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4A5B6D"/>
                </a:solidFill>
                <a:latin typeface="Aptos"/>
              </a:rP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91072" y="1828800"/>
            <a:ext cx="2240280" cy="2240280"/>
          </a:xfrm>
          <a:prstGeom prst="roundRect">
            <a:avLst>
              <a:gd name="adj" fmla="val 8000"/>
            </a:avLst>
          </a:prstGeom>
          <a:solidFill>
            <a:srgbClr val="EFF4F7"/>
          </a:solidFill>
          <a:ln>
            <a:solidFill>
              <a:srgbClr val="EB8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91072" y="1828800"/>
            <a:ext cx="2240280" cy="393192"/>
          </a:xfrm>
          <a:prstGeom prst="roundRect">
            <a:avLst>
              <a:gd name="adj" fmla="val 8000"/>
            </a:avLst>
          </a:prstGeom>
          <a:solidFill>
            <a:srgbClr val="EB8441"/>
          </a:solidFill>
          <a:ln>
            <a:solidFill>
              <a:srgbClr val="EB8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55664" y="1911095"/>
            <a:ext cx="1874519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ADVISE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2542032"/>
            <a:ext cx="1874519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900" b="1">
                <a:solidFill>
                  <a:srgbClr val="0C182B"/>
                </a:solidFill>
                <a:latin typeface="Aptos"/>
              </a:rPr>
              <a:t>Rebalance
Projection
Sources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2697480"/>
            <a:ext cx="3657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4A5B6D"/>
                </a:solidFill>
                <a:latin typeface="Aptos"/>
              </a:rPr>
              <a:t>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07424" y="1828800"/>
            <a:ext cx="2240280" cy="2240280"/>
          </a:xfrm>
          <a:prstGeom prst="roundRect">
            <a:avLst>
              <a:gd name="adj" fmla="val 8000"/>
            </a:avLst>
          </a:prstGeom>
          <a:solidFill>
            <a:srgbClr val="EFF4F7"/>
          </a:solidFill>
          <a:ln>
            <a:solidFill>
              <a:srgbClr val="F1BE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07424" y="1828800"/>
            <a:ext cx="2240280" cy="393192"/>
          </a:xfrm>
          <a:prstGeom prst="roundRect">
            <a:avLst>
              <a:gd name="adj" fmla="val 8000"/>
            </a:avLst>
          </a:prstGeom>
          <a:solidFill>
            <a:srgbClr val="F1BE4D"/>
          </a:solidFill>
          <a:ln>
            <a:solidFill>
              <a:srgbClr val="F1BE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72016" y="1911095"/>
            <a:ext cx="1874519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CHECK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0304" y="2542032"/>
            <a:ext cx="1874519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900" b="1">
                <a:solidFill>
                  <a:srgbClr val="0C182B"/>
                </a:solidFill>
                <a:latin typeface="Aptos"/>
              </a:rPr>
              <a:t>Scenarios
Narrative
QA gate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6446520"/>
            <a:ext cx="11018520" cy="13716"/>
          </a:xfrm>
          <a:prstGeom prst="rect">
            <a:avLst/>
          </a:prstGeom>
          <a:solidFill>
            <a:srgbClr val="EFF4F7"/>
          </a:solidFill>
          <a:ln>
            <a:solidFill>
              <a:srgbClr val="EF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5216" y="6510528"/>
            <a:ext cx="107899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>
                <a:solidFill>
                  <a:srgbClr val="4A5B6D"/>
                </a:solidFill>
                <a:latin typeface="Aptos"/>
              </a:rPr>
              <a:t>Talk track: One workflow produces analytics, recommendations, projections, stress tests, and a checked explanation.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9D97"/>
          </a:solidFill>
          <a:ln>
            <a:solidFill>
              <a:srgbClr val="179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53035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79D97"/>
                </a:solidFill>
                <a:latin typeface="Aptos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94944"/>
            <a:ext cx="1051560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182B"/>
                </a:solidFill>
                <a:latin typeface="Aptos"/>
              </a:rPr>
              <a:t>Architecture and orchestration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384048"/>
            <a:ext cx="15544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>
                <a:solidFill>
                  <a:srgbClr val="4A5B6D"/>
                </a:solidFill>
                <a:latin typeface="Aptos"/>
              </a:rPr>
              <a:t>CAPSTONE PROJECT 1  /  04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89888"/>
            <a:ext cx="11018520" cy="13716"/>
          </a:xfrm>
          <a:prstGeom prst="rect">
            <a:avLst/>
          </a:prstGeom>
          <a:solidFill>
            <a:srgbClr val="EFF4F7"/>
          </a:solidFill>
          <a:ln>
            <a:solidFill>
              <a:srgbClr val="EF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2103120"/>
            <a:ext cx="1755648" cy="914400"/>
          </a:xfrm>
          <a:prstGeom prst="roundRect">
            <a:avLst>
              <a:gd name="adj" fmla="val 8000"/>
            </a:avLst>
          </a:prstGeom>
          <a:solidFill>
            <a:srgbClr val="3D7EB6"/>
          </a:solidFill>
          <a:ln>
            <a:solidFill>
              <a:srgbClr val="3D7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50008"/>
            <a:ext cx="1536192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User / 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78608" y="2331720"/>
            <a:ext cx="3200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4A5B6D"/>
                </a:solidFill>
                <a:latin typeface="Aptos"/>
              </a:rP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80944" y="2103120"/>
            <a:ext cx="1755648" cy="914400"/>
          </a:xfrm>
          <a:prstGeom prst="roundRect">
            <a:avLst>
              <a:gd name="adj" fmla="val 8000"/>
            </a:avLst>
          </a:prstGeom>
          <a:solidFill>
            <a:srgbClr val="179D97"/>
          </a:solidFill>
          <a:ln>
            <a:solidFill>
              <a:srgbClr val="179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90672" y="2350008"/>
            <a:ext cx="1536192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Data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331720"/>
            <a:ext cx="3200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4A5B6D"/>
                </a:solidFill>
                <a:latin typeface="Aptos"/>
              </a:rP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48656" y="2103120"/>
            <a:ext cx="1755648" cy="914400"/>
          </a:xfrm>
          <a:prstGeom prst="roundRect">
            <a:avLst>
              <a:gd name="adj" fmla="val 8000"/>
            </a:avLst>
          </a:prstGeom>
          <a:solidFill>
            <a:srgbClr val="EB8441"/>
          </a:solidFill>
          <a:ln>
            <a:solidFill>
              <a:srgbClr val="EB8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58384" y="2350008"/>
            <a:ext cx="1536192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Analysis +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4032" y="2331720"/>
            <a:ext cx="3200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4A5B6D"/>
                </a:solidFill>
                <a:latin typeface="Aptos"/>
              </a:rP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16367" y="2103120"/>
            <a:ext cx="1755648" cy="914400"/>
          </a:xfrm>
          <a:prstGeom prst="roundRect">
            <a:avLst>
              <a:gd name="adj" fmla="val 8000"/>
            </a:avLst>
          </a:prstGeom>
          <a:solidFill>
            <a:srgbClr val="F1BE4D"/>
          </a:solidFill>
          <a:ln>
            <a:solidFill>
              <a:srgbClr val="F1BE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6095" y="2350008"/>
            <a:ext cx="1536192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Advisory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81743" y="2331720"/>
            <a:ext cx="3200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4A5B6D"/>
                </a:solidFill>
                <a:latin typeface="Aptos"/>
              </a:rPr>
              <a:t>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84080" y="2103120"/>
            <a:ext cx="1755648" cy="914400"/>
          </a:xfrm>
          <a:prstGeom prst="roundRect">
            <a:avLst>
              <a:gd name="adj" fmla="val 8000"/>
            </a:avLst>
          </a:prstGeom>
          <a:solidFill>
            <a:srgbClr val="CD4C47"/>
          </a:solidFill>
          <a:ln>
            <a:solidFill>
              <a:srgbClr val="CD4C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93807" y="2350008"/>
            <a:ext cx="1536192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QA Agent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48840" y="3840480"/>
            <a:ext cx="7955279" cy="1005840"/>
          </a:xfrm>
          <a:prstGeom prst="roundRect">
            <a:avLst>
              <a:gd name="adj" fmla="val 8000"/>
            </a:avLst>
          </a:prstGeom>
          <a:solidFill>
            <a:srgbClr val="EFF4F7"/>
          </a:solidFill>
          <a:ln>
            <a:solidFill>
              <a:srgbClr val="EF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77440" y="4069080"/>
            <a:ext cx="749807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300" b="1">
                <a:solidFill>
                  <a:srgbClr val="0C182B"/>
                </a:solidFill>
                <a:latin typeface="Aptos"/>
              </a:rPr>
              <a:t>PortfolioAdvisorOrchestrator.run()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4480560"/>
            <a:ext cx="7498079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4A5B6D"/>
                </a:solidFill>
                <a:latin typeface="Aptos"/>
              </a:rPr>
              <a:t>Coordinates analysis -&gt; enrichment -&gt; risk -&gt; advice -&gt; scenarios -&gt; QA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6446520"/>
            <a:ext cx="11018520" cy="13716"/>
          </a:xfrm>
          <a:prstGeom prst="rect">
            <a:avLst/>
          </a:prstGeom>
          <a:solidFill>
            <a:srgbClr val="EFF4F7"/>
          </a:solidFill>
          <a:ln>
            <a:solidFill>
              <a:srgbClr val="EF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5216" y="6510528"/>
            <a:ext cx="107899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>
                <a:solidFill>
                  <a:srgbClr val="4A5B6D"/>
                </a:solidFill>
                <a:latin typeface="Aptos"/>
              </a:rPr>
              <a:t>Code anchor: agents/orchestrator.py. Each agent has one focused responsibility.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9D97"/>
          </a:solidFill>
          <a:ln>
            <a:solidFill>
              <a:srgbClr val="179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53035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79D97"/>
                </a:solidFill>
                <a:latin typeface="Aptos"/>
              </a:rPr>
              <a:t>CODE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94944"/>
            <a:ext cx="1051560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182B"/>
                </a:solidFill>
                <a:latin typeface="Aptos"/>
              </a:rPr>
              <a:t>Portfolio model and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384048"/>
            <a:ext cx="15544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>
                <a:solidFill>
                  <a:srgbClr val="4A5B6D"/>
                </a:solidFill>
                <a:latin typeface="Aptos"/>
              </a:rPr>
              <a:t>CAPSTONE PROJECT 1  /  05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89888"/>
            <a:ext cx="11018520" cy="13716"/>
          </a:xfrm>
          <a:prstGeom prst="rect">
            <a:avLst/>
          </a:prstGeom>
          <a:solidFill>
            <a:srgbClr val="EFF4F7"/>
          </a:solidFill>
          <a:ln>
            <a:solidFill>
              <a:srgbClr val="EF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783080"/>
            <a:ext cx="5486400" cy="3474720"/>
          </a:xfrm>
          <a:prstGeom prst="roundRect">
            <a:avLst>
              <a:gd name="adj" fmla="val 8000"/>
            </a:avLst>
          </a:prstGeom>
          <a:solidFill>
            <a:srgbClr val="0C182B"/>
          </a:solidFill>
          <a:ln>
            <a:solidFill>
              <a:srgbClr val="0C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4983480" cy="2926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@dataclass(frozen=True)
class Holding:
    symbol: str
    asset_class: AssetClass
    value: float
@property
def total_value(self) -&gt; float:
    return sum(h.value for h in self.holdings)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901952"/>
            <a:ext cx="39319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79D97"/>
                </a:solidFill>
                <a:latin typeface="Aptos"/>
              </a:rPr>
              <a:t>Why this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468880"/>
            <a:ext cx="4343400" cy="2468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82434"/>
                </a:solidFill>
                <a:latin typeface="Aptos"/>
              </a:defRPr>
            </a:pPr>
            <a:r>
              <a:t>Structured inputs</a:t>
            </a:r>
          </a:p>
          <a:p>
            <a:pPr>
              <a:spcAft>
                <a:spcPts val="1200"/>
              </a:spcAft>
              <a:defRPr sz="1700">
                <a:solidFill>
                  <a:srgbClr val="182434"/>
                </a:solidFill>
                <a:latin typeface="Aptos"/>
              </a:defRPr>
            </a:pPr>
            <a:r>
              <a:t>Frozen dataclasses reduce accidental mutation.</a:t>
            </a:r>
          </a:p>
          <a:p>
            <a:pPr>
              <a:spcAft>
                <a:spcPts val="1200"/>
              </a:spcAft>
              <a:defRPr sz="1700">
                <a:solidFill>
                  <a:srgbClr val="182434"/>
                </a:solidFill>
                <a:latin typeface="Aptos"/>
              </a:defRPr>
            </a:pPr>
            <a:r>
              <a:t>Enums restrict risk profiles and asset classes.</a:t>
            </a:r>
          </a:p>
          <a:p>
            <a:pPr>
              <a:spcAft>
                <a:spcPts val="1200"/>
              </a:spcAft>
              <a:defRPr sz="1700">
                <a:solidFill>
                  <a:srgbClr val="182434"/>
                </a:solidFill>
                <a:latin typeface="Aptos"/>
              </a:defRPr>
            </a:pPr>
            <a:r>
              <a:t>Validation rejects empty or invalid simulation requests.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446520"/>
            <a:ext cx="11018520" cy="13716"/>
          </a:xfrm>
          <a:prstGeom prst="rect">
            <a:avLst/>
          </a:prstGeom>
          <a:solidFill>
            <a:srgbClr val="EFF4F7"/>
          </a:solidFill>
          <a:ln>
            <a:solidFill>
              <a:srgbClr val="EF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6510528"/>
            <a:ext cx="107899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>
                <a:solidFill>
                  <a:srgbClr val="4A5B6D"/>
                </a:solidFill>
                <a:latin typeface="Aptos"/>
              </a:rPr>
              <a:t>Code anchor: advisory_agent/models.py. The model layer keeps the workflow explicit and testable.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9D97"/>
          </a:solidFill>
          <a:ln>
            <a:solidFill>
              <a:srgbClr val="179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53035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79D97"/>
                </a:solidFill>
                <a:latin typeface="Aptos"/>
              </a:rPr>
              <a:t>CODE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94944"/>
            <a:ext cx="1051560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182B"/>
                </a:solidFill>
                <a:latin typeface="Aptos"/>
              </a:rPr>
              <a:t>Risk profile targets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384048"/>
            <a:ext cx="15544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>
                <a:solidFill>
                  <a:srgbClr val="4A5B6D"/>
                </a:solidFill>
                <a:latin typeface="Aptos"/>
              </a:rPr>
              <a:t>CAPSTONE PROJECT 1  /  06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89888"/>
            <a:ext cx="11018520" cy="13716"/>
          </a:xfrm>
          <a:prstGeom prst="rect">
            <a:avLst/>
          </a:prstGeom>
          <a:solidFill>
            <a:srgbClr val="EFF4F7"/>
          </a:solidFill>
          <a:ln>
            <a:solidFill>
              <a:srgbClr val="EF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783080"/>
            <a:ext cx="5166360" cy="3794760"/>
          </a:xfrm>
          <a:prstGeom prst="roundRect">
            <a:avLst>
              <a:gd name="adj" fmla="val 8000"/>
            </a:avLst>
          </a:prstGeom>
          <a:solidFill>
            <a:srgbClr val="0C182B"/>
          </a:solidFill>
          <a:ln>
            <a:solidFill>
              <a:srgbClr val="0C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4572000" cy="2377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onsolas"/>
              </a:rPr>
              <a:t>RiskProfile.MODERATE: {
    CASH: 0.05,
    BONDS: 0.35,
    EQUITIES: 0.50,
    REAL_ASSETS: 0.10,
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810512"/>
            <a:ext cx="41148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EB8441"/>
                </a:solidFill>
                <a:latin typeface="Aptos"/>
              </a:rPr>
              <a:t>Target allocation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487168"/>
            <a:ext cx="15087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2434"/>
                </a:solidFill>
                <a:latin typeface="Aptos"/>
              </a:rPr>
              <a:t>Cash  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2523744"/>
            <a:ext cx="2743200" cy="201168"/>
          </a:xfrm>
          <a:prstGeom prst="roundRect">
            <a:avLst>
              <a:gd name="adj" fmla="val 8000"/>
            </a:avLst>
          </a:prstGeom>
          <a:solidFill>
            <a:srgbClr val="EFF4F7"/>
          </a:solidFill>
          <a:ln>
            <a:solidFill>
              <a:srgbClr val="EF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92440" y="2523744"/>
            <a:ext cx="274320" cy="201168"/>
          </a:xfrm>
          <a:prstGeom prst="roundRect">
            <a:avLst>
              <a:gd name="adj" fmla="val 8000"/>
            </a:avLst>
          </a:prstGeom>
          <a:solidFill>
            <a:srgbClr val="179D97"/>
          </a:solidFill>
          <a:ln>
            <a:solidFill>
              <a:srgbClr val="179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054096"/>
            <a:ext cx="15087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2434"/>
                </a:solidFill>
                <a:latin typeface="Aptos"/>
              </a:rPr>
              <a:t>Bonds  35%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3090672"/>
            <a:ext cx="2743200" cy="201168"/>
          </a:xfrm>
          <a:prstGeom prst="roundRect">
            <a:avLst>
              <a:gd name="adj" fmla="val 8000"/>
            </a:avLst>
          </a:prstGeom>
          <a:solidFill>
            <a:srgbClr val="EFF4F7"/>
          </a:solidFill>
          <a:ln>
            <a:solidFill>
              <a:srgbClr val="EF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92440" y="3090672"/>
            <a:ext cx="1920240" cy="201168"/>
          </a:xfrm>
          <a:prstGeom prst="roundRect">
            <a:avLst>
              <a:gd name="adj" fmla="val 8000"/>
            </a:avLst>
          </a:prstGeom>
          <a:solidFill>
            <a:srgbClr val="3D7EB6"/>
          </a:solidFill>
          <a:ln>
            <a:solidFill>
              <a:srgbClr val="3D7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621024"/>
            <a:ext cx="15087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2434"/>
                </a:solidFill>
                <a:latin typeface="Aptos"/>
              </a:rPr>
              <a:t>Equities  50%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3657600"/>
            <a:ext cx="2743200" cy="201168"/>
          </a:xfrm>
          <a:prstGeom prst="roundRect">
            <a:avLst>
              <a:gd name="adj" fmla="val 8000"/>
            </a:avLst>
          </a:prstGeom>
          <a:solidFill>
            <a:srgbClr val="EFF4F7"/>
          </a:solidFill>
          <a:ln>
            <a:solidFill>
              <a:srgbClr val="EF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92440" y="3657600"/>
            <a:ext cx="2743200" cy="201168"/>
          </a:xfrm>
          <a:prstGeom prst="roundRect">
            <a:avLst>
              <a:gd name="adj" fmla="val 8000"/>
            </a:avLst>
          </a:prstGeom>
          <a:solidFill>
            <a:srgbClr val="EB8441"/>
          </a:solidFill>
          <a:ln>
            <a:solidFill>
              <a:srgbClr val="EB8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187952"/>
            <a:ext cx="15087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2434"/>
                </a:solidFill>
                <a:latin typeface="Aptos"/>
              </a:rPr>
              <a:t>Real assets  10%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4224528"/>
            <a:ext cx="2743200" cy="201168"/>
          </a:xfrm>
          <a:prstGeom prst="roundRect">
            <a:avLst>
              <a:gd name="adj" fmla="val 8000"/>
            </a:avLst>
          </a:prstGeom>
          <a:solidFill>
            <a:srgbClr val="EFF4F7"/>
          </a:solidFill>
          <a:ln>
            <a:solidFill>
              <a:srgbClr val="EF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92440" y="4224528"/>
            <a:ext cx="548640" cy="201168"/>
          </a:xfrm>
          <a:prstGeom prst="roundRect">
            <a:avLst>
              <a:gd name="adj" fmla="val 8000"/>
            </a:avLst>
          </a:prstGeom>
          <a:solidFill>
            <a:srgbClr val="F1BE4D"/>
          </a:solidFill>
          <a:ln>
            <a:solidFill>
              <a:srgbClr val="F1BE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6446520"/>
            <a:ext cx="11018520" cy="13716"/>
          </a:xfrm>
          <a:prstGeom prst="rect">
            <a:avLst/>
          </a:prstGeom>
          <a:solidFill>
            <a:srgbClr val="EFF4F7"/>
          </a:solidFill>
          <a:ln>
            <a:solidFill>
              <a:srgbClr val="EF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" y="6510528"/>
            <a:ext cx="107899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>
                <a:solidFill>
                  <a:srgbClr val="4A5B6D"/>
                </a:solidFill>
                <a:latin typeface="Aptos"/>
              </a:rPr>
              <a:t>Talk track: These are reference targets for the selected profile, not personalized regulated advice.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9D97"/>
          </a:solidFill>
          <a:ln>
            <a:solidFill>
              <a:srgbClr val="179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53035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79D97"/>
                </a:solidFill>
                <a:latin typeface="Aptos"/>
              </a:rPr>
              <a:t>CODE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94944"/>
            <a:ext cx="1051560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182B"/>
                </a:solidFill>
                <a:latin typeface="Aptos"/>
              </a:rPr>
              <a:t>Dollar-based rebalancing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384048"/>
            <a:ext cx="15544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>
                <a:solidFill>
                  <a:srgbClr val="4A5B6D"/>
                </a:solidFill>
                <a:latin typeface="Aptos"/>
              </a:rPr>
              <a:t>CAPSTONE PROJECT 1  /  07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89888"/>
            <a:ext cx="11018520" cy="13716"/>
          </a:xfrm>
          <a:prstGeom prst="rect">
            <a:avLst/>
          </a:prstGeom>
          <a:solidFill>
            <a:srgbClr val="EFF4F7"/>
          </a:solidFill>
          <a:ln>
            <a:solidFill>
              <a:srgbClr val="EF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828800"/>
            <a:ext cx="5303520" cy="1965960"/>
          </a:xfrm>
          <a:prstGeom prst="roundRect">
            <a:avLst>
              <a:gd name="adj" fmla="val 8000"/>
            </a:avLst>
          </a:prstGeom>
          <a:solidFill>
            <a:srgbClr val="0C182B"/>
          </a:solidFill>
          <a:ln>
            <a:solidFill>
              <a:srgbClr val="0C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4800600" cy="11887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Consolas"/>
              </a:rPr>
              <a:t>difference = target - current
amount = abs(difference) * total_value
action = increase or decrease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828800"/>
            <a:ext cx="41148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79D97"/>
                </a:solidFill>
                <a:latin typeface="Aptos"/>
              </a:rPr>
              <a:t>Example: $10,000 portfolio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468880"/>
            <a:ext cx="4206240" cy="20116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82434"/>
                </a:solidFill>
                <a:latin typeface="Aptos"/>
              </a:defRPr>
            </a:pPr>
            <a:r>
              <a:t>Current equities: 70%</a:t>
            </a:r>
          </a:p>
          <a:p>
            <a:pPr>
              <a:spcAft>
                <a:spcPts val="1000"/>
              </a:spcAft>
              <a:defRPr sz="1900">
                <a:solidFill>
                  <a:srgbClr val="182434"/>
                </a:solidFill>
                <a:latin typeface="Aptos"/>
              </a:defRPr>
            </a:pPr>
            <a:r>
              <a:t>Moderate target: 50%</a:t>
            </a:r>
          </a:p>
          <a:p>
            <a:pPr>
              <a:spcAft>
                <a:spcPts val="1000"/>
              </a:spcAft>
              <a:defRPr sz="1900">
                <a:solidFill>
                  <a:srgbClr val="182434"/>
                </a:solidFill>
                <a:latin typeface="Aptos"/>
              </a:defRPr>
            </a:pPr>
            <a:r>
              <a:t>Gap: -20%</a:t>
            </a:r>
          </a:p>
          <a:p>
            <a:pPr>
              <a:spcAft>
                <a:spcPts val="1000"/>
              </a:spcAft>
              <a:defRPr sz="1900">
                <a:solidFill>
                  <a:srgbClr val="182434"/>
                </a:solidFill>
                <a:latin typeface="Aptos"/>
              </a:defRPr>
            </a:pPr>
            <a:r>
              <a:t>Recommendation: decrease equities by $2,000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4800600"/>
            <a:ext cx="4297680" cy="566928"/>
          </a:xfrm>
          <a:prstGeom prst="roundRect">
            <a:avLst>
              <a:gd name="adj" fmla="val 8000"/>
            </a:avLst>
          </a:prstGeom>
          <a:solidFill>
            <a:srgbClr val="EFF4F7"/>
          </a:solidFill>
          <a:ln>
            <a:solidFill>
              <a:srgbClr val="EF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4965192"/>
            <a:ext cx="39319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4A5B6D"/>
                </a:solidFill>
                <a:latin typeface="Aptos"/>
              </a:rPr>
              <a:t>No random recommendation: a transparent calculation.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6446520"/>
            <a:ext cx="11018520" cy="13716"/>
          </a:xfrm>
          <a:prstGeom prst="rect">
            <a:avLst/>
          </a:prstGeom>
          <a:solidFill>
            <a:srgbClr val="EFF4F7"/>
          </a:solidFill>
          <a:ln>
            <a:solidFill>
              <a:srgbClr val="EF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" y="6510528"/>
            <a:ext cx="107899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>
                <a:solidFill>
                  <a:srgbClr val="4A5B6D"/>
                </a:solidFill>
                <a:latin typeface="Aptos"/>
              </a:rPr>
              <a:t>Code anchor: advisory_agent/advisor.py. The LLM does not calculate this amount.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9D97"/>
          </a:solidFill>
          <a:ln>
            <a:solidFill>
              <a:srgbClr val="179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53035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79D97"/>
                </a:solidFill>
                <a:latin typeface="Aptos"/>
              </a:rPr>
              <a:t>CODE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94944"/>
            <a:ext cx="1051560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182B"/>
                </a:solidFill>
                <a:latin typeface="Aptos"/>
              </a:rPr>
              <a:t>What-if projection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384048"/>
            <a:ext cx="15544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>
                <a:solidFill>
                  <a:srgbClr val="4A5B6D"/>
                </a:solidFill>
                <a:latin typeface="Aptos"/>
              </a:rPr>
              <a:t>CAPSTONE PROJECT 1  /  08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89888"/>
            <a:ext cx="11018520" cy="13716"/>
          </a:xfrm>
          <a:prstGeom prst="rect">
            <a:avLst/>
          </a:prstGeom>
          <a:solidFill>
            <a:srgbClr val="EFF4F7"/>
          </a:solidFill>
          <a:ln>
            <a:solidFill>
              <a:srgbClr val="EF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783080"/>
            <a:ext cx="5669280" cy="3474720"/>
          </a:xfrm>
          <a:prstGeom prst="roundRect">
            <a:avLst>
              <a:gd name="adj" fmla="val 8000"/>
            </a:avLst>
          </a:prstGeom>
          <a:solidFill>
            <a:srgbClr val="0C182B"/>
          </a:solidFill>
          <a:ln>
            <a:solidFill>
              <a:srgbClr val="0C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5166360" cy="2560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monthly_rate = (1 + annual_return) ** (1/12) - 1
for month in range(years * 12):
    balance *= (1 + monthly_rate)
    balance += monthly_contribution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1874519"/>
            <a:ext cx="33832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EB8441"/>
                </a:solidFill>
                <a:latin typeface="Aptos"/>
              </a:rPr>
              <a:t>Outputs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487168"/>
            <a:ext cx="3840480" cy="20116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82434"/>
                </a:solidFill>
                <a:latin typeface="Aptos"/>
              </a:defRPr>
            </a:pPr>
            <a:r>
              <a:t>Initial value</a:t>
            </a:r>
          </a:p>
          <a:p>
            <a:pPr>
              <a:spcAft>
                <a:spcPts val="1200"/>
              </a:spcAft>
              <a:defRPr sz="1900">
                <a:solidFill>
                  <a:srgbClr val="182434"/>
                </a:solidFill>
                <a:latin typeface="Aptos"/>
              </a:defRPr>
            </a:pPr>
            <a:r>
              <a:t>Total contributions</a:t>
            </a:r>
          </a:p>
          <a:p>
            <a:pPr>
              <a:spcAft>
                <a:spcPts val="1200"/>
              </a:spcAft>
              <a:defRPr sz="1900">
                <a:solidFill>
                  <a:srgbClr val="182434"/>
                </a:solidFill>
                <a:latin typeface="Aptos"/>
              </a:defRPr>
            </a:pPr>
            <a:r>
              <a:t>Projected value</a:t>
            </a:r>
          </a:p>
          <a:p>
            <a:pPr>
              <a:spcAft>
                <a:spcPts val="1200"/>
              </a:spcAft>
              <a:defRPr sz="1900">
                <a:solidFill>
                  <a:srgbClr val="182434"/>
                </a:solidFill>
                <a:latin typeface="Aptos"/>
              </a:defRPr>
            </a:pPr>
            <a:r>
              <a:t>Projected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4754880"/>
            <a:ext cx="416052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>
                <a:solidFill>
                  <a:srgbClr val="CD4C47"/>
                </a:solidFill>
                <a:latin typeface="Aptos"/>
              </a:rPr>
              <a:t>Illustrative only: fixed return assumption; no fees, tax, inflation, withdrawals, or changing returns.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446520"/>
            <a:ext cx="11018520" cy="13716"/>
          </a:xfrm>
          <a:prstGeom prst="rect">
            <a:avLst/>
          </a:prstGeom>
          <a:solidFill>
            <a:srgbClr val="EFF4F7"/>
          </a:solidFill>
          <a:ln>
            <a:solidFill>
              <a:srgbClr val="EF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6510528"/>
            <a:ext cx="107899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>
                <a:solidFill>
                  <a:srgbClr val="4A5B6D"/>
                </a:solidFill>
                <a:latin typeface="Aptos"/>
              </a:rPr>
              <a:t>Code anchor: AdvisoryAgent._simulate(). This is a projection, not a forecast or guarantee.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9D97"/>
          </a:solidFill>
          <a:ln>
            <a:solidFill>
              <a:srgbClr val="179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53035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79D97"/>
                </a:solidFill>
                <a:latin typeface="Aptos"/>
              </a:rPr>
              <a:t>RAG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94944"/>
            <a:ext cx="1051560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182B"/>
                </a:solidFill>
                <a:latin typeface="Aptos"/>
              </a:rPr>
              <a:t>Local knowledge retrieval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384048"/>
            <a:ext cx="15544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>
                <a:solidFill>
                  <a:srgbClr val="4A5B6D"/>
                </a:solidFill>
                <a:latin typeface="Aptos"/>
              </a:rPr>
              <a:t>CAPSTONE PROJECT 1  /  09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89888"/>
            <a:ext cx="11018520" cy="13716"/>
          </a:xfrm>
          <a:prstGeom prst="rect">
            <a:avLst/>
          </a:prstGeom>
          <a:solidFill>
            <a:srgbClr val="EFF4F7"/>
          </a:solidFill>
          <a:ln>
            <a:solidFill>
              <a:srgbClr val="EF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828800"/>
            <a:ext cx="5440680" cy="3337560"/>
          </a:xfrm>
          <a:prstGeom prst="roundRect">
            <a:avLst>
              <a:gd name="adj" fmla="val 8000"/>
            </a:avLst>
          </a:prstGeom>
          <a:solidFill>
            <a:srgbClr val="0C182B"/>
          </a:solidFill>
          <a:ln>
            <a:solidFill>
              <a:srgbClr val="0C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4892040" cy="1965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onsolas"/>
              </a:rPr>
              <a:t>query = f"{profile} diversification
rebalancing contributions portfolio"
sources = retriever.search(query)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1874519"/>
            <a:ext cx="40233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79D97"/>
                </a:solidFill>
                <a:latin typeface="Aptos"/>
              </a:rPr>
              <a:t>Current 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514600"/>
            <a:ext cx="4389120" cy="256032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82434"/>
                </a:solidFill>
                <a:latin typeface="Aptos"/>
              </a:defRPr>
            </a:pPr>
            <a:r>
              <a:t>Loads Markdown sections from data/knowledge/</a:t>
            </a:r>
          </a:p>
          <a:p>
            <a:pPr>
              <a:spcAft>
                <a:spcPts val="800"/>
              </a:spcAft>
              <a:defRPr sz="1700">
                <a:solidFill>
                  <a:srgbClr val="182434"/>
                </a:solidFill>
                <a:latin typeface="Aptos"/>
              </a:defRPr>
            </a:pPr>
            <a:r>
              <a:t>Tokenizes query and document text</a:t>
            </a:r>
          </a:p>
          <a:p>
            <a:pPr>
              <a:spcAft>
                <a:spcPts val="800"/>
              </a:spcAft>
              <a:defRPr sz="1700">
                <a:solidFill>
                  <a:srgbClr val="182434"/>
                </a:solidFill>
                <a:latin typeface="Aptos"/>
              </a:defRPr>
            </a:pPr>
            <a:r>
              <a:t>Scores word overlap</a:t>
            </a:r>
          </a:p>
          <a:p>
            <a:pPr>
              <a:spcAft>
                <a:spcPts val="800"/>
              </a:spcAft>
              <a:defRPr sz="1700">
                <a:solidFill>
                  <a:srgbClr val="182434"/>
                </a:solidFill>
                <a:latin typeface="Aptos"/>
              </a:defRPr>
            </a:pPr>
            <a:r>
              <a:t>Returns top four source chunks</a:t>
            </a:r>
          </a:p>
          <a:p>
            <a:pPr>
              <a:spcAft>
                <a:spcPts val="800"/>
              </a:spcAft>
              <a:defRPr sz="1700">
                <a:solidFill>
                  <a:srgbClr val="182434"/>
                </a:solidFill>
                <a:latin typeface="Aptos"/>
              </a:defRPr>
            </a:pPr>
            <a:r>
              <a:t>Can later be replaced by embeddings/vector search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446520"/>
            <a:ext cx="11018520" cy="13716"/>
          </a:xfrm>
          <a:prstGeom prst="rect">
            <a:avLst/>
          </a:prstGeom>
          <a:solidFill>
            <a:srgbClr val="EFF4F7"/>
          </a:solidFill>
          <a:ln>
            <a:solidFill>
              <a:srgbClr val="EF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6510528"/>
            <a:ext cx="107899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>
                <a:solidFill>
                  <a:srgbClr val="4A5B6D"/>
                </a:solidFill>
                <a:latin typeface="Aptos"/>
              </a:rPr>
              <a:t>Code anchor: advisory_agent/knowledge.py. This is lightweight keyword-based RAG, not a vector database.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9D97"/>
          </a:solidFill>
          <a:ln>
            <a:solidFill>
              <a:srgbClr val="179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53035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79D97"/>
                </a:solidFill>
                <a:latin typeface="Aptos"/>
              </a:rPr>
              <a:t>OPENAI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94944"/>
            <a:ext cx="1051560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182B"/>
                </a:solidFill>
                <a:latin typeface="Aptos"/>
              </a:rPr>
              <a:t>LLM configuration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384048"/>
            <a:ext cx="15544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>
                <a:solidFill>
                  <a:srgbClr val="4A5B6D"/>
                </a:solidFill>
                <a:latin typeface="Aptos"/>
              </a:rPr>
              <a:t>CAPSTONE PROJECT 1  / 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89888"/>
            <a:ext cx="11018520" cy="13716"/>
          </a:xfrm>
          <a:prstGeom prst="rect">
            <a:avLst/>
          </a:prstGeom>
          <a:solidFill>
            <a:srgbClr val="EFF4F7"/>
          </a:solidFill>
          <a:ln>
            <a:solidFill>
              <a:srgbClr val="EF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783080"/>
            <a:ext cx="5486400" cy="3520440"/>
          </a:xfrm>
          <a:prstGeom prst="roundRect">
            <a:avLst>
              <a:gd name="adj" fmla="val 8000"/>
            </a:avLst>
          </a:prstGeom>
          <a:solidFill>
            <a:srgbClr val="0C182B"/>
          </a:solidFill>
          <a:ln>
            <a:solidFill>
              <a:srgbClr val="0C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29968"/>
            <a:ext cx="5029200" cy="2560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from langchain_openai import ChatOpenAI
return ChatOpenAI(
    model=os.getenv("OPENAI_MODEL",
                   "gpt-4o-mini"),
    temperature=0,
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847088"/>
            <a:ext cx="3749039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EB8441"/>
                </a:solidFill>
                <a:latin typeface="Aptos"/>
              </a:rPr>
              <a:t>Configuration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487168"/>
            <a:ext cx="4114800" cy="256032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82434"/>
                </a:solidFill>
                <a:latin typeface="Aptos"/>
              </a:defRPr>
            </a:pPr>
            <a:r>
              <a:t>Provider: OpenAI</a:t>
            </a:r>
          </a:p>
          <a:p>
            <a:pPr>
              <a:spcAft>
                <a:spcPts val="800"/>
              </a:spcAft>
              <a:defRPr sz="1800">
                <a:solidFill>
                  <a:srgbClr val="182434"/>
                </a:solidFill>
                <a:latin typeface="Aptos"/>
              </a:defRPr>
            </a:pPr>
            <a:r>
              <a:t>Default model: gpt-4o-mini</a:t>
            </a:r>
          </a:p>
          <a:p>
            <a:pPr>
              <a:spcAft>
                <a:spcPts val="800"/>
              </a:spcAft>
              <a:defRPr sz="1800">
                <a:solidFill>
                  <a:srgbClr val="182434"/>
                </a:solidFill>
                <a:latin typeface="Aptos"/>
              </a:defRPr>
            </a:pPr>
            <a:r>
              <a:t>Framework: LangChain</a:t>
            </a:r>
          </a:p>
          <a:p>
            <a:pPr>
              <a:spcAft>
                <a:spcPts val="800"/>
              </a:spcAft>
              <a:defRPr sz="1800">
                <a:solidFill>
                  <a:srgbClr val="182434"/>
                </a:solidFill>
                <a:latin typeface="Aptos"/>
              </a:defRPr>
            </a:pPr>
            <a:r>
              <a:t>Temperature: 0</a:t>
            </a:r>
          </a:p>
          <a:p>
            <a:pPr>
              <a:spcAft>
                <a:spcPts val="800"/>
              </a:spcAft>
              <a:defRPr sz="1800">
                <a:solidFill>
                  <a:srgbClr val="182434"/>
                </a:solidFill>
                <a:latin typeface="Aptos"/>
              </a:defRPr>
            </a:pPr>
            <a:r>
              <a:t>Credential: OPENAI_API_KEY</a:t>
            </a:r>
          </a:p>
          <a:p>
            <a:pPr>
              <a:spcAft>
                <a:spcPts val="800"/>
              </a:spcAft>
              <a:defRPr sz="1800">
                <a:solidFill>
                  <a:srgbClr val="182434"/>
                </a:solidFill>
                <a:latin typeface="Aptos"/>
              </a:defRPr>
            </a:pPr>
            <a:r>
              <a:t>Model override: OPENAI_MODEL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446520"/>
            <a:ext cx="11018520" cy="13716"/>
          </a:xfrm>
          <a:prstGeom prst="rect">
            <a:avLst/>
          </a:prstGeom>
          <a:solidFill>
            <a:srgbClr val="EFF4F7"/>
          </a:solidFill>
          <a:ln>
            <a:solidFill>
              <a:srgbClr val="EF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6510528"/>
            <a:ext cx="107899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>
                <a:solidFill>
                  <a:srgbClr val="4A5B6D"/>
                </a:solidFill>
                <a:latin typeface="Aptos"/>
              </a:rPr>
              <a:t>Temperature 0 favors consistent, controlled explanations over creative variation.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9D97"/>
          </a:solidFill>
          <a:ln>
            <a:solidFill>
              <a:srgbClr val="179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53035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79D97"/>
                </a:solidFill>
                <a:latin typeface="Aptos"/>
              </a:rPr>
              <a:t>GROUNDED NARRATIVE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94944"/>
            <a:ext cx="1051560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182B"/>
                </a:solidFill>
                <a:latin typeface="Aptos"/>
              </a:rPr>
              <a:t>LLM safety boundary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384048"/>
            <a:ext cx="15544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>
                <a:solidFill>
                  <a:srgbClr val="4A5B6D"/>
                </a:solidFill>
                <a:latin typeface="Aptos"/>
              </a:rPr>
              <a:t>CAPSTONE PROJECT 1  / 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89888"/>
            <a:ext cx="11018520" cy="13716"/>
          </a:xfrm>
          <a:prstGeom prst="rect">
            <a:avLst/>
          </a:prstGeom>
          <a:solidFill>
            <a:srgbClr val="EFF4F7"/>
          </a:solidFill>
          <a:ln>
            <a:solidFill>
              <a:srgbClr val="EF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828800"/>
            <a:ext cx="10835640" cy="1234440"/>
          </a:xfrm>
          <a:prstGeom prst="roundRect">
            <a:avLst>
              <a:gd name="adj" fmla="val 8000"/>
            </a:avLst>
          </a:prstGeom>
          <a:solidFill>
            <a:srgbClr val="EFF4F7"/>
          </a:solidFill>
          <a:ln>
            <a:solidFill>
              <a:srgbClr val="EF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21408"/>
            <a:ext cx="1028700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100" b="1">
                <a:solidFill>
                  <a:srgbClr val="0C182B"/>
                </a:solidFill>
                <a:latin typeface="Aptos"/>
              </a:rPr>
              <a:t>Do not invent prices, returns, tax advice, or securities. Explain trade-offs, mention scenario risks, cite sources, and state that this is not financial advice.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749039"/>
            <a:ext cx="3063240" cy="1005840"/>
          </a:xfrm>
          <a:prstGeom prst="roundRect">
            <a:avLst>
              <a:gd name="adj" fmla="val 8000"/>
            </a:avLst>
          </a:prstGeom>
          <a:solidFill>
            <a:srgbClr val="179D97"/>
          </a:solidFill>
          <a:ln>
            <a:solidFill>
              <a:srgbClr val="179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53712" y="3749039"/>
            <a:ext cx="3063240" cy="1005840"/>
          </a:xfrm>
          <a:prstGeom prst="roundRect">
            <a:avLst>
              <a:gd name="adj" fmla="val 8000"/>
            </a:avLst>
          </a:prstGeom>
          <a:solidFill>
            <a:srgbClr val="EB8441"/>
          </a:solidFill>
          <a:ln>
            <a:solidFill>
              <a:srgbClr val="EB8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47888" y="3749039"/>
            <a:ext cx="3063240" cy="1005840"/>
          </a:xfrm>
          <a:prstGeom prst="roundRect">
            <a:avLst>
              <a:gd name="adj" fmla="val 8000"/>
            </a:avLst>
          </a:prstGeom>
          <a:solidFill>
            <a:srgbClr val="F1BE4D"/>
          </a:solidFill>
          <a:ln>
            <a:solidFill>
              <a:srgbClr val="F1BE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986784"/>
            <a:ext cx="269748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Deterministic
calculations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3986784"/>
            <a:ext cx="269748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Structured facts
into prompt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0768" y="3986784"/>
            <a:ext cx="269748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0C182B"/>
                </a:solidFill>
                <a:latin typeface="Aptos"/>
              </a:rPr>
              <a:t>Natural-language
explanation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6446520"/>
            <a:ext cx="11018520" cy="13716"/>
          </a:xfrm>
          <a:prstGeom prst="rect">
            <a:avLst/>
          </a:prstGeom>
          <a:solidFill>
            <a:srgbClr val="EFF4F7"/>
          </a:solidFill>
          <a:ln>
            <a:solidFill>
              <a:srgbClr val="EF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" y="6510528"/>
            <a:ext cx="107899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>
                <a:solidFill>
                  <a:srgbClr val="4A5B6D"/>
                </a:solidFill>
                <a:latin typeface="Aptos"/>
              </a:rPr>
              <a:t>Key design principle: the model explains the recommendation; it does not originate the financial calculation.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9D97"/>
          </a:solidFill>
          <a:ln>
            <a:solidFill>
              <a:srgbClr val="179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53035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79D97"/>
                </a:solidFill>
                <a:latin typeface="Aptos"/>
              </a:rPr>
              <a:t>RISK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94944"/>
            <a:ext cx="1051560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182B"/>
                </a:solidFill>
                <a:latin typeface="Aptos"/>
              </a:rPr>
              <a:t>Scenario stress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384048"/>
            <a:ext cx="15544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>
                <a:solidFill>
                  <a:srgbClr val="4A5B6D"/>
                </a:solidFill>
                <a:latin typeface="Aptos"/>
              </a:rPr>
              <a:t>CAPSTONE PROJECT 1  / 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89888"/>
            <a:ext cx="11018520" cy="13716"/>
          </a:xfrm>
          <a:prstGeom prst="rect">
            <a:avLst/>
          </a:prstGeom>
          <a:solidFill>
            <a:srgbClr val="EFF4F7"/>
          </a:solidFill>
          <a:ln>
            <a:solidFill>
              <a:srgbClr val="EF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83080"/>
            <a:ext cx="5029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0">
                <a:solidFill>
                  <a:srgbClr val="4A5B6D"/>
                </a:solidFill>
                <a:latin typeface="Aptos"/>
              </a:rPr>
              <a:t>Illustrative change for the demo portfolio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87168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0C182B"/>
                </a:solidFill>
                <a:latin typeface="Aptos"/>
              </a:rPr>
              <a:t>Market downturn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08760" y="3063240"/>
            <a:ext cx="1508760" cy="1645920"/>
          </a:xfrm>
          <a:prstGeom prst="roundRect">
            <a:avLst>
              <a:gd name="adj" fmla="val 8000"/>
            </a:avLst>
          </a:prstGeom>
          <a:solidFill>
            <a:srgbClr val="EFF4F7"/>
          </a:solidFill>
          <a:ln>
            <a:solidFill>
              <a:srgbClr val="EF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508760" y="3238804"/>
            <a:ext cx="1508760" cy="1470355"/>
          </a:xfrm>
          <a:prstGeom prst="roundRect">
            <a:avLst>
              <a:gd name="adj" fmla="val 8000"/>
            </a:avLst>
          </a:prstGeom>
          <a:solidFill>
            <a:srgbClr val="CD4C47"/>
          </a:solidFill>
          <a:ln>
            <a:solidFill>
              <a:srgbClr val="CD4C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18488" y="4983480"/>
            <a:ext cx="12801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CD4C47"/>
                </a:solidFill>
                <a:latin typeface="Aptos"/>
              </a:rPr>
              <a:t>-13.4%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487168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0C182B"/>
                </a:solidFill>
                <a:latin typeface="Aptos"/>
              </a:rPr>
              <a:t>Rate hike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80" y="3063240"/>
            <a:ext cx="1508760" cy="1645920"/>
          </a:xfrm>
          <a:prstGeom prst="roundRect">
            <a:avLst>
              <a:gd name="adj" fmla="val 8000"/>
            </a:avLst>
          </a:prstGeom>
          <a:solidFill>
            <a:srgbClr val="EFF4F7"/>
          </a:solidFill>
          <a:ln>
            <a:solidFill>
              <a:srgbClr val="EF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212080" y="4061764"/>
            <a:ext cx="1508760" cy="647395"/>
          </a:xfrm>
          <a:prstGeom prst="roundRect">
            <a:avLst>
              <a:gd name="adj" fmla="val 8000"/>
            </a:avLst>
          </a:prstGeom>
          <a:solidFill>
            <a:srgbClr val="EB8441"/>
          </a:solidFill>
          <a:ln>
            <a:solidFill>
              <a:srgbClr val="EB8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21808" y="4983480"/>
            <a:ext cx="12801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EB8441"/>
                </a:solidFill>
                <a:latin typeface="Aptos"/>
              </a:rPr>
              <a:t>-5.9%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487168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0C182B"/>
                </a:solidFill>
                <a:latin typeface="Aptos"/>
              </a:rPr>
              <a:t>Inflation spike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399" y="3063240"/>
            <a:ext cx="1508760" cy="1645920"/>
          </a:xfrm>
          <a:prstGeom prst="roundRect">
            <a:avLst>
              <a:gd name="adj" fmla="val 8000"/>
            </a:avLst>
          </a:prstGeom>
          <a:solidFill>
            <a:srgbClr val="EFF4F7"/>
          </a:solidFill>
          <a:ln>
            <a:solidFill>
              <a:srgbClr val="EF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915399" y="4347057"/>
            <a:ext cx="1508760" cy="362102"/>
          </a:xfrm>
          <a:prstGeom prst="roundRect">
            <a:avLst>
              <a:gd name="adj" fmla="val 8000"/>
            </a:avLst>
          </a:prstGeom>
          <a:solidFill>
            <a:srgbClr val="F1BE4D"/>
          </a:solidFill>
          <a:ln>
            <a:solidFill>
              <a:srgbClr val="F1BE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25128" y="4983480"/>
            <a:ext cx="12801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F1BE4D"/>
                </a:solidFill>
                <a:latin typeface="Aptos"/>
              </a:rPr>
              <a:t>-3.3%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5669280"/>
            <a:ext cx="71323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4A5B6D"/>
                </a:solidFill>
                <a:latin typeface="Aptos"/>
              </a:rPr>
              <a:t>Predefined shocks are transparent assumptions, not market predictions.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446520"/>
            <a:ext cx="11018520" cy="13716"/>
          </a:xfrm>
          <a:prstGeom prst="rect">
            <a:avLst/>
          </a:prstGeom>
          <a:solidFill>
            <a:srgbClr val="EFF4F7"/>
          </a:solidFill>
          <a:ln>
            <a:solidFill>
              <a:srgbClr val="EF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" y="6510528"/>
            <a:ext cx="107899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>
                <a:solidFill>
                  <a:srgbClr val="4A5B6D"/>
                </a:solidFill>
                <a:latin typeface="Aptos"/>
              </a:rPr>
              <a:t>Code anchor: services/scenarios.py. Each asset class receives an explicit scenario shock.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9D97"/>
          </a:solidFill>
          <a:ln>
            <a:solidFill>
              <a:srgbClr val="179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53035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79D97"/>
                </a:solidFill>
                <a:latin typeface="Aptos"/>
              </a:rPr>
              <a:t>COMPLIANCE GUARDRAIL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94944"/>
            <a:ext cx="1051560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182B"/>
                </a:solidFill>
                <a:latin typeface="Aptos"/>
              </a:rPr>
              <a:t>QA and suitability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384048"/>
            <a:ext cx="15544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>
                <a:solidFill>
                  <a:srgbClr val="4A5B6D"/>
                </a:solidFill>
                <a:latin typeface="Aptos"/>
              </a:rPr>
              <a:t>CAPSTONE PROJECT 1  / 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89888"/>
            <a:ext cx="11018520" cy="13716"/>
          </a:xfrm>
          <a:prstGeom prst="rect">
            <a:avLst/>
          </a:prstGeom>
          <a:solidFill>
            <a:srgbClr val="EFF4F7"/>
          </a:solidFill>
          <a:ln>
            <a:solidFill>
              <a:srgbClr val="EF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965960"/>
            <a:ext cx="3063240" cy="1143000"/>
          </a:xfrm>
          <a:prstGeom prst="roundRect">
            <a:avLst>
              <a:gd name="adj" fmla="val 8000"/>
            </a:avLst>
          </a:prstGeom>
          <a:solidFill>
            <a:srgbClr val="179D97"/>
          </a:solidFill>
          <a:ln>
            <a:solidFill>
              <a:srgbClr val="179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12848"/>
            <a:ext cx="26974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560320"/>
            <a:ext cx="26517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Calculations outside LLM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965960"/>
            <a:ext cx="3063240" cy="1143000"/>
          </a:xfrm>
          <a:prstGeom prst="roundRect">
            <a:avLst>
              <a:gd name="adj" fmla="val 8000"/>
            </a:avLst>
          </a:prstGeom>
          <a:solidFill>
            <a:srgbClr val="3D7EB6"/>
          </a:solidFill>
          <a:ln>
            <a:solidFill>
              <a:srgbClr val="3D7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212848"/>
            <a:ext cx="26974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2560320"/>
            <a:ext cx="26517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Retrieved sources present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965960"/>
            <a:ext cx="3063240" cy="1143000"/>
          </a:xfrm>
          <a:prstGeom prst="roundRect">
            <a:avLst>
              <a:gd name="adj" fmla="val 8000"/>
            </a:avLst>
          </a:prstGeom>
          <a:solidFill>
            <a:srgbClr val="EB8441"/>
          </a:solidFill>
          <a:ln>
            <a:solidFill>
              <a:srgbClr val="EB8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2212848"/>
            <a:ext cx="26974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2560320"/>
            <a:ext cx="26517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Disclaimer present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71800" y="4251960"/>
            <a:ext cx="6263640" cy="822960"/>
          </a:xfrm>
          <a:prstGeom prst="roundRect">
            <a:avLst>
              <a:gd name="adj" fmla="val 8000"/>
            </a:avLst>
          </a:prstGeom>
          <a:solidFill>
            <a:srgbClr val="EFF4F7"/>
          </a:solidFill>
          <a:ln>
            <a:solidFill>
              <a:srgbClr val="EF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0" y="4526280"/>
            <a:ext cx="580644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0C182B"/>
                </a:solidFill>
                <a:latin typeface="Aptos"/>
              </a:rPr>
              <a:t>approved = sources &gt; 0 and disclaimer is present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5577840"/>
            <a:ext cx="7772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CD4C47"/>
                </a:solidFill>
                <a:latin typeface="Aptos"/>
              </a:rPr>
              <a:t>This is a presentation guardrail, not a substitute for legal or financial review.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6446520"/>
            <a:ext cx="11018520" cy="13716"/>
          </a:xfrm>
          <a:prstGeom prst="rect">
            <a:avLst/>
          </a:prstGeom>
          <a:solidFill>
            <a:srgbClr val="EFF4F7"/>
          </a:solidFill>
          <a:ln>
            <a:solidFill>
              <a:srgbClr val="EF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6" y="6510528"/>
            <a:ext cx="107899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>
                <a:solidFill>
                  <a:srgbClr val="4A5B6D"/>
                </a:solidFill>
                <a:latin typeface="Aptos"/>
              </a:rPr>
              <a:t>Code anchor: agents/qa_agent.py. An ungrounded or undisclaimed narrative is not approved.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9D97"/>
          </a:solidFill>
          <a:ln>
            <a:solidFill>
              <a:srgbClr val="179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53035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79D97"/>
                </a:solidFill>
                <a:latin typeface="Aptos"/>
              </a:rP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94944"/>
            <a:ext cx="1051560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182B"/>
                </a:solidFill>
                <a:latin typeface="Aptos"/>
              </a:rPr>
              <a:t>Live demo scenario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384048"/>
            <a:ext cx="15544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>
                <a:solidFill>
                  <a:srgbClr val="4A5B6D"/>
                </a:solidFill>
                <a:latin typeface="Aptos"/>
              </a:rPr>
              <a:t>CAPSTONE PROJECT 1  / 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89888"/>
            <a:ext cx="11018520" cy="13716"/>
          </a:xfrm>
          <a:prstGeom prst="rect">
            <a:avLst/>
          </a:prstGeom>
          <a:solidFill>
            <a:srgbClr val="EFF4F7"/>
          </a:solidFill>
          <a:ln>
            <a:solidFill>
              <a:srgbClr val="EF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783080"/>
            <a:ext cx="4069080" cy="4023360"/>
          </a:xfrm>
          <a:prstGeom prst="roundRect">
            <a:avLst>
              <a:gd name="adj" fmla="val 8000"/>
            </a:avLst>
          </a:prstGeom>
          <a:solidFill>
            <a:srgbClr val="0C182B"/>
          </a:solidFill>
          <a:ln>
            <a:solidFill>
              <a:srgbClr val="0C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35661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1BE4D"/>
                </a:solidFill>
                <a:latin typeface="Aptos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06040"/>
            <a:ext cx="3108960" cy="22860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Risk: moderate</a:t>
            </a:r>
          </a:p>
          <a:p>
            <a:pPr>
              <a:spcAft>
                <a:spcPts val="13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Equities: $7,000</a:t>
            </a:r>
          </a:p>
          <a:p>
            <a:pPr>
              <a:spcAft>
                <a:spcPts val="13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Bonds: $3,000</a:t>
            </a:r>
          </a:p>
          <a:p>
            <a:pPr>
              <a:spcAft>
                <a:spcPts val="13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Monthly contribution: $250</a:t>
            </a:r>
          </a:p>
          <a:p>
            <a:pPr>
              <a:spcAft>
                <a:spcPts val="13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Duration: 5 years</a:t>
            </a:r>
          </a:p>
          <a:p>
            <a:pPr>
              <a:spcAft>
                <a:spcPts val="13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Assumed return: 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80" y="1847088"/>
            <a:ext cx="4800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179D97"/>
                </a:solidFill>
                <a:latin typeface="Aptos"/>
              </a:rPr>
              <a:t>EXPECTED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2487168"/>
            <a:ext cx="4251960" cy="233172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82434"/>
                </a:solidFill>
                <a:latin typeface="Aptos"/>
              </a:defRPr>
            </a:pPr>
            <a:r>
              <a:t>Current equities: 70%</a:t>
            </a:r>
          </a:p>
          <a:p>
            <a:pPr>
              <a:spcAft>
                <a:spcPts val="1000"/>
              </a:spcAft>
              <a:defRPr sz="1900">
                <a:solidFill>
                  <a:srgbClr val="182434"/>
                </a:solidFill>
                <a:latin typeface="Aptos"/>
              </a:defRPr>
            </a:pPr>
            <a:r>
              <a:t>Target equities: 50%</a:t>
            </a:r>
          </a:p>
          <a:p>
            <a:pPr>
              <a:spcAft>
                <a:spcPts val="1000"/>
              </a:spcAft>
              <a:defRPr sz="1900">
                <a:solidFill>
                  <a:srgbClr val="182434"/>
                </a:solidFill>
                <a:latin typeface="Aptos"/>
              </a:defRPr>
            </a:pPr>
            <a:r>
              <a:t>Decrease equities: $2,000</a:t>
            </a:r>
          </a:p>
          <a:p>
            <a:pPr>
              <a:spcAft>
                <a:spcPts val="1000"/>
              </a:spcAft>
              <a:defRPr sz="1900">
                <a:solidFill>
                  <a:srgbClr val="182434"/>
                </a:solidFill>
                <a:latin typeface="Aptos"/>
              </a:defRPr>
            </a:pPr>
            <a:r>
              <a:t>Increase bonds: $500</a:t>
            </a:r>
          </a:p>
          <a:p>
            <a:pPr>
              <a:spcAft>
                <a:spcPts val="1000"/>
              </a:spcAft>
              <a:defRPr sz="1900">
                <a:solidFill>
                  <a:srgbClr val="182434"/>
                </a:solidFill>
                <a:latin typeface="Aptos"/>
              </a:defRPr>
            </a:pPr>
            <a:r>
              <a:t>Add cash: $500</a:t>
            </a:r>
          </a:p>
          <a:p>
            <a:pPr>
              <a:spcAft>
                <a:spcPts val="1000"/>
              </a:spcAft>
              <a:defRPr sz="1900">
                <a:solidFill>
                  <a:srgbClr val="182434"/>
                </a:solidFill>
                <a:latin typeface="Aptos"/>
              </a:defRPr>
            </a:pPr>
            <a:r>
              <a:t>Run three stress scenarios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0" y="5166360"/>
            <a:ext cx="4480560" cy="475488"/>
          </a:xfrm>
          <a:prstGeom prst="roundRect">
            <a:avLst>
              <a:gd name="adj" fmla="val 8000"/>
            </a:avLst>
          </a:prstGeom>
          <a:solidFill>
            <a:srgbClr val="EFF4F7"/>
          </a:solidFill>
          <a:ln>
            <a:solidFill>
              <a:srgbClr val="EF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06440" y="5321808"/>
            <a:ext cx="41148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0C182B"/>
                </a:solidFill>
                <a:latin typeface="Consolas"/>
              </a:rPr>
              <a:t>streamlit run main.py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6446520"/>
            <a:ext cx="11018520" cy="13716"/>
          </a:xfrm>
          <a:prstGeom prst="rect">
            <a:avLst/>
          </a:prstGeom>
          <a:solidFill>
            <a:srgbClr val="EFF4F7"/>
          </a:solidFill>
          <a:ln>
            <a:solidFill>
              <a:srgbClr val="EF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" y="6510528"/>
            <a:ext cx="107899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>
                <a:solidFill>
                  <a:srgbClr val="4A5B6D"/>
                </a:solidFill>
                <a:latin typeface="Aptos"/>
              </a:rPr>
              <a:t>Demo sequence: enter profile and holdings -&gt; generate report -&gt; show recommendations -&gt; show chart -&gt; show QA status.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9D97"/>
          </a:solidFill>
          <a:ln>
            <a:solidFill>
              <a:srgbClr val="179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53035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179D97"/>
                </a:solidFill>
                <a:latin typeface="Aptos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94944"/>
            <a:ext cx="1051560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700" b="1">
                <a:solidFill>
                  <a:srgbClr val="0C182B"/>
                </a:solidFill>
                <a:latin typeface="Aptos"/>
              </a:rPr>
              <a:t>Limitations and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384048"/>
            <a:ext cx="155448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>
                <a:solidFill>
                  <a:srgbClr val="4A5B6D"/>
                </a:solidFill>
                <a:latin typeface="Aptos"/>
              </a:rPr>
              <a:t>CAPSTONE PROJECT 1  / 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89888"/>
            <a:ext cx="11018520" cy="13716"/>
          </a:xfrm>
          <a:prstGeom prst="rect">
            <a:avLst/>
          </a:prstGeom>
          <a:solidFill>
            <a:srgbClr val="EFF4F7"/>
          </a:solidFill>
          <a:ln>
            <a:solidFill>
              <a:srgbClr val="EF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94944" y="1856231"/>
            <a:ext cx="109728" cy="109728"/>
          </a:xfrm>
          <a:prstGeom prst="roundRect">
            <a:avLst>
              <a:gd name="adj" fmla="val 8000"/>
            </a:avLst>
          </a:prstGeom>
          <a:solidFill>
            <a:srgbClr val="3D7EB6"/>
          </a:solidFill>
          <a:ln>
            <a:solidFill>
              <a:srgbClr val="3D7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83080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0">
                <a:solidFill>
                  <a:srgbClr val="182434"/>
                </a:solidFill>
                <a:latin typeface="Aptos"/>
              </a:rPr>
              <a:t>Current RAG uses keyword matching; embeddings and a vector store are future options.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2514600"/>
            <a:ext cx="109728" cy="109728"/>
          </a:xfrm>
          <a:prstGeom prst="roundRect">
            <a:avLst>
              <a:gd name="adj" fmla="val 8000"/>
            </a:avLst>
          </a:prstGeom>
          <a:solidFill>
            <a:srgbClr val="3D7EB6"/>
          </a:solidFill>
          <a:ln>
            <a:solidFill>
              <a:srgbClr val="3D7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441448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0">
                <a:solidFill>
                  <a:srgbClr val="182434"/>
                </a:solidFill>
                <a:latin typeface="Aptos"/>
              </a:rPr>
              <a:t>Scenario shocks and annual returns are illustrative assumptions.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" y="3172968"/>
            <a:ext cx="109728" cy="109728"/>
          </a:xfrm>
          <a:prstGeom prst="roundRect">
            <a:avLst>
              <a:gd name="adj" fmla="val 8000"/>
            </a:avLst>
          </a:prstGeom>
          <a:solidFill>
            <a:srgbClr val="3D7EB6"/>
          </a:solidFill>
          <a:ln>
            <a:solidFill>
              <a:srgbClr val="3D7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099815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0">
                <a:solidFill>
                  <a:srgbClr val="182434"/>
                </a:solidFill>
                <a:latin typeface="Aptos"/>
              </a:rPr>
              <a:t>Future work: Monte Carlo simulation, fees, taxes, inflation, withdrawals, and historical backtesting.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" y="3831335"/>
            <a:ext cx="109728" cy="109728"/>
          </a:xfrm>
          <a:prstGeom prst="roundRect">
            <a:avLst>
              <a:gd name="adj" fmla="val 8000"/>
            </a:avLst>
          </a:prstGeom>
          <a:solidFill>
            <a:srgbClr val="3D7EB6"/>
          </a:solidFill>
          <a:ln>
            <a:solidFill>
              <a:srgbClr val="3D7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758183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900" b="0">
                <a:solidFill>
                  <a:srgbClr val="182434"/>
                </a:solidFill>
                <a:latin typeface="Aptos"/>
              </a:rPr>
              <a:t>Future product work: CSV upload, richer risk questionnaire, news analysis, and portfolio history.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6446520"/>
            <a:ext cx="11018520" cy="13716"/>
          </a:xfrm>
          <a:prstGeom prst="rect">
            <a:avLst/>
          </a:prstGeom>
          <a:solidFill>
            <a:srgbClr val="EFF4F7"/>
          </a:solidFill>
          <a:ln>
            <a:solidFill>
              <a:srgbClr val="EF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" y="6510528"/>
            <a:ext cx="1078992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850" b="0">
                <a:solidFill>
                  <a:srgbClr val="4A5B6D"/>
                </a:solidFill>
                <a:latin typeface="Aptos"/>
              </a:rPr>
              <a:t>Talk track: The project is intentionally transparent about what it calculates and what it does not claim.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82B"/>
          </a:solidFill>
          <a:ln>
            <a:solidFill>
              <a:srgbClr val="0C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9D97"/>
          </a:solidFill>
          <a:ln>
            <a:solidFill>
              <a:srgbClr val="179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512064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>
                <a:solidFill>
                  <a:srgbClr val="F1BE4D"/>
                </a:solidFill>
                <a:latin typeface="Aptos"/>
              </a:rPr>
              <a:t>Closing message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6400800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500" b="1">
                <a:solidFill>
                  <a:srgbClr val="FFFFFF"/>
                </a:solidFill>
                <a:latin typeface="Aptos"/>
              </a:rPr>
              <a:t>Explainable guidance
with responsible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59436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100" b="0">
                <a:solidFill>
                  <a:srgbClr val="CADAE2"/>
                </a:solidFill>
                <a:latin typeface="Aptos"/>
              </a:rPr>
              <a:t>The Portfolio Advisor combines deterministic portfolio logic, local knowledge retrieval, optional OpenAI narration, scenario testing, and QA guardrails.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234440"/>
            <a:ext cx="3337560" cy="3337560"/>
          </a:xfrm>
          <a:prstGeom prst="roundRect">
            <a:avLst>
              <a:gd name="adj" fmla="val 8000"/>
            </a:avLst>
          </a:prstGeom>
          <a:solidFill>
            <a:srgbClr val="179D97"/>
          </a:solidFill>
          <a:ln>
            <a:solidFill>
              <a:srgbClr val="179D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82127" y="1828800"/>
            <a:ext cx="2651760" cy="1920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"/>
              </a:rPr>
              <a:t>CALCULATE
GROUND
STRESS-TEST
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06440"/>
            <a:ext cx="21031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217920"/>
            <a:ext cx="43891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CADAE2"/>
                </a:solidFill>
                <a:latin typeface="Aptos"/>
              </a:rPr>
              <a:t>Syed Hussein  |  Capstone Project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